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Instrument Serif"/>
      <p:regular r:id="rId201314"/>
    </p:embeddedFont>
    <p:embeddedFont>
      <p:font typeface="Space Grotesk SemiBold"/>
      <p:regular r:id="rId201315"/>
    </p:embeddedFont>
    <p:embeddedFont>
      <p:font typeface="Space Mono"/>
      <p:regular r:id="rId201316"/>
    </p:embeddedFont>
    <p:embeddedFont>
      <p:font typeface="Space Mono Bold"/>
      <p:regular r:id="rId201317"/>
    </p:embeddedFont>
    <p:embeddedFont>
      <p:font typeface="Inter"/>
      <p:regular r:id="rId201318"/>
    </p:embeddedFont>
    <p:embeddedFont>
      <p:font typeface="Inter Bold"/>
      <p:regular r:id="rId201319"/>
    </p:embeddedFont>
    <p:embeddedFont>
      <p:font typeface="Inter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3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927509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0"/>
              </a:rPr>
              <a:t>CUSTOMER SHOPPING BEHAVIOR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3240504"/>
            <a:ext cx="10972526" cy="23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Customer behavior</a:t>
            </a:r>
            <a:endParaRPr lang="en-US" sz="58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points to the next</a:t>
            </a:r>
            <a:endParaRPr lang="en-US" sz="58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growth move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609585" y="5684560"/>
            <a:ext cx="109725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3,900 purchases reveal where revenue concentrates, where loyalty is strong, and where the customer journey still has room to improve.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D9370A"/>
                </a:solidFill>
                <a:latin typeface="Space Mono" pitchFamily="34" charset="0"/>
                <a:ea typeface="Space Mono" pitchFamily="34" charset="-122"/>
                <a:cs typeface="Space Mono" pitchFamily="34" charset="0"/>
              </a:rPr>
              <a:t>THE EVIDENCE BASE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8785"/>
            <a:ext cx="10972526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The dataset is broad enough to show patterns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276376"/>
            <a:ext cx="5333867" cy="1823641"/>
          </a:xfrm>
          <a:prstGeom prst="roundRect">
            <a:avLst>
              <a:gd name="adj" fmla="val 4095"/>
            </a:avLst>
          </a:prstGeom>
          <a:solidFill>
            <a:srgbClr val="FF4615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589113"/>
            <a:ext cx="4876678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3,900</a:t>
            </a:r>
            <a:endParaRPr lang="en-US" sz="7400" dirty="0"/>
          </a:p>
        </p:txBody>
      </p:sp>
      <p:sp>
        <p:nvSpPr>
          <p:cNvPr id="6" name="Text 4"/>
          <p:cNvSpPr/>
          <p:nvPr/>
        </p:nvSpPr>
        <p:spPr>
          <a:xfrm>
            <a:off x="838179" y="3622576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purchases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276376"/>
            <a:ext cx="5333867" cy="1823641"/>
          </a:xfrm>
          <a:prstGeom prst="roundRect">
            <a:avLst>
              <a:gd name="adj" fmla="val 4095"/>
            </a:avLst>
          </a:prstGeom>
          <a:solidFill>
            <a:srgbClr val="FFB241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2589113"/>
            <a:ext cx="4876678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03030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25</a:t>
            </a:r>
            <a:endParaRPr lang="en-US" sz="7400" dirty="0"/>
          </a:p>
        </p:txBody>
      </p:sp>
      <p:sp>
        <p:nvSpPr>
          <p:cNvPr id="9" name="Text 7"/>
          <p:cNvSpPr/>
          <p:nvPr/>
        </p:nvSpPr>
        <p:spPr>
          <a:xfrm>
            <a:off x="6476838" y="3622576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products across 4 categories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4404816"/>
            <a:ext cx="5333867" cy="1823641"/>
          </a:xfrm>
          <a:prstGeom prst="roundRect">
            <a:avLst>
              <a:gd name="adj" fmla="val 4095"/>
            </a:avLst>
          </a:prstGeom>
          <a:solidFill>
            <a:srgbClr val="071E4D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4717554"/>
            <a:ext cx="4876678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$59.76</a:t>
            </a:r>
            <a:endParaRPr lang="en-US" sz="7400" dirty="0"/>
          </a:p>
        </p:txBody>
      </p:sp>
      <p:sp>
        <p:nvSpPr>
          <p:cNvPr id="12" name="Text 10"/>
          <p:cNvSpPr/>
          <p:nvPr/>
        </p:nvSpPr>
        <p:spPr>
          <a:xfrm>
            <a:off x="838179" y="5751016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average purchase amount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4404816"/>
            <a:ext cx="5333867" cy="1823641"/>
          </a:xfrm>
          <a:prstGeom prst="roundRect">
            <a:avLst>
              <a:gd name="adj" fmla="val 4095"/>
            </a:avLst>
          </a:prstGeom>
          <a:solidFill>
            <a:srgbClr val="030303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838" y="4717554"/>
            <a:ext cx="4876678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3.75</a:t>
            </a:r>
            <a:endParaRPr lang="en-US" sz="7400" dirty="0"/>
          </a:p>
        </p:txBody>
      </p:sp>
      <p:sp>
        <p:nvSpPr>
          <p:cNvPr id="15" name="Text 13"/>
          <p:cNvSpPr/>
          <p:nvPr/>
        </p:nvSpPr>
        <p:spPr>
          <a:xfrm>
            <a:off x="6476838" y="5751016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average review rating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41819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D9370A"/>
                </a:solidFill>
                <a:latin typeface="Space Mono" pitchFamily="34" charset="0"/>
                <a:ea typeface="Space Mono" pitchFamily="34" charset="-122"/>
                <a:cs typeface="Space Mono" pitchFamily="34" charset="0"/>
              </a:rPr>
              <a:t>REVENUE MIX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045289"/>
            <a:ext cx="10972526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Revenue is concentrated in male customers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453680"/>
            <a:ext cx="4206075" cy="1518841"/>
          </a:xfrm>
          <a:prstGeom prst="rect">
            <a:avLst/>
          </a:prstGeom>
          <a:solidFill>
            <a:srgbClr val="FF4615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737842"/>
            <a:ext cx="3748887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$157,890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38179" y="3495080"/>
            <a:ext cx="3977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Male revenue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585" y="4124920"/>
            <a:ext cx="4206075" cy="1518841"/>
          </a:xfrm>
          <a:prstGeom prst="rect">
            <a:avLst/>
          </a:prstGeom>
          <a:solidFill>
            <a:srgbClr val="FFB241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4409083"/>
            <a:ext cx="3748887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3030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$75,191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38179" y="5166320"/>
            <a:ext cx="397748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Female revenue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5" y="5754251"/>
            <a:ext cx="420607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The gap is a targeting signal, not a reason to overlook other customer groups.</a:t>
            </a:r>
            <a:endParaRPr lang="en-US" sz="10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749" y="2805013"/>
            <a:ext cx="6309361" cy="2965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81246"/>
            <a:ext cx="56488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B241"/>
                </a:solidFill>
                <a:latin typeface="Space Mono" pitchFamily="34" charset="0"/>
                <a:ea typeface="Space Mono" pitchFamily="34" charset="-122"/>
                <a:cs typeface="Space Mono" pitchFamily="34" charset="0"/>
              </a:rPr>
              <a:t>THE BIGGEST GAP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383764"/>
            <a:ext cx="5039293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Loyalty is strong,</a:t>
            </a:r>
            <a:endParaRPr lang="en-US" sz="44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but subscriptions lag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3527027"/>
            <a:ext cx="5039293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0" dirty="0">
                <a:solidFill>
                  <a:srgbClr val="FF461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1,053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609585" y="5188148"/>
            <a:ext cx="564887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customers subscribe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5601454"/>
            <a:ext cx="56488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2,847 non-subscribers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137" y="1713309"/>
            <a:ext cx="4256973" cy="31717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25137" y="4963775"/>
            <a:ext cx="486655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3,116 loyal · 701 returning · 83 new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D9370A"/>
                </a:solidFill>
                <a:latin typeface="Space Mono" pitchFamily="34" charset="0"/>
                <a:ea typeface="Space Mono" pitchFamily="34" charset="-122"/>
                <a:cs typeface="Space Mono" pitchFamily="34" charset="0"/>
              </a:rPr>
              <a:t>PRODUCT OPPORTUNITY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8785"/>
            <a:ext cx="10972526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Clothing leads the product opportunity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670076"/>
            <a:ext cx="2514537" cy="2130822"/>
          </a:xfrm>
          <a:prstGeom prst="roundRect">
            <a:avLst>
              <a:gd name="adj" fmla="val 3504"/>
            </a:avLst>
          </a:prstGeom>
          <a:solidFill>
            <a:srgbClr val="FF4615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3184426"/>
            <a:ext cx="20573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Clothing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8179" y="3559076"/>
            <a:ext cx="205734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Largest category in the dashboard.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28914" y="2670076"/>
            <a:ext cx="2514537" cy="2130822"/>
          </a:xfrm>
          <a:prstGeom prst="roundRect">
            <a:avLst>
              <a:gd name="adj" fmla="val 3504"/>
            </a:avLst>
          </a:prstGeom>
          <a:solidFill>
            <a:srgbClr val="FF4615"/>
          </a:solidFill>
          <a:ln/>
        </p:spPr>
      </p:sp>
      <p:sp>
        <p:nvSpPr>
          <p:cNvPr id="8" name="Text 6"/>
          <p:cNvSpPr/>
          <p:nvPr/>
        </p:nvSpPr>
        <p:spPr>
          <a:xfrm>
            <a:off x="3657509" y="3184426"/>
            <a:ext cx="20573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Top products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509" y="3559076"/>
            <a:ext cx="205734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Jewelry, Blouse, Sandals, and Jacket.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8244" y="2670076"/>
            <a:ext cx="2514537" cy="2130822"/>
          </a:xfrm>
          <a:prstGeom prst="roundRect">
            <a:avLst>
              <a:gd name="adj" fmla="val 3504"/>
            </a:avLst>
          </a:prstGeom>
          <a:solidFill>
            <a:srgbClr val="FF4615"/>
          </a:solidFill>
          <a:ln/>
        </p:spPr>
      </p:sp>
      <p:sp>
        <p:nvSpPr>
          <p:cNvPr id="11" name="Text 9"/>
          <p:cNvSpPr/>
          <p:nvPr/>
        </p:nvSpPr>
        <p:spPr>
          <a:xfrm>
            <a:off x="6476838" y="3184426"/>
            <a:ext cx="20573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Top-rated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76838" y="3559076"/>
            <a:ext cx="205734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Gloves 3.86 · Sandals 3.84 · Boots 3.82.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67573" y="2670076"/>
            <a:ext cx="2514537" cy="2130822"/>
          </a:xfrm>
          <a:prstGeom prst="roundRect">
            <a:avLst>
              <a:gd name="adj" fmla="val 3504"/>
            </a:avLst>
          </a:prstGeom>
          <a:solidFill>
            <a:srgbClr val="FF4615"/>
          </a:solidFill>
          <a:ln/>
        </p:spPr>
      </p:sp>
      <p:sp>
        <p:nvSpPr>
          <p:cNvPr id="14" name="Text 12"/>
          <p:cNvSpPr/>
          <p:nvPr/>
        </p:nvSpPr>
        <p:spPr>
          <a:xfrm>
            <a:off x="9296167" y="3184426"/>
            <a:ext cx="20573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Category context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96167" y="3825776"/>
            <a:ext cx="205734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Ahead of accessories, footwear, and outerwear.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00160" y="2403376"/>
            <a:ext cx="533387" cy="533400"/>
          </a:xfrm>
          <a:prstGeom prst="ellipse">
            <a:avLst/>
          </a:prstGeom>
          <a:solidFill>
            <a:srgbClr val="FF4615"/>
          </a:solidFill>
          <a:ln w="6350">
            <a:solidFill>
              <a:srgbClr val="FF5F2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856" y="2543076"/>
            <a:ext cx="253994" cy="254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4419489" y="2403376"/>
            <a:ext cx="533387" cy="533400"/>
          </a:xfrm>
          <a:prstGeom prst="ellipse">
            <a:avLst/>
          </a:prstGeom>
          <a:solidFill>
            <a:srgbClr val="FF4615"/>
          </a:solidFill>
          <a:ln w="6350">
            <a:solidFill>
              <a:srgbClr val="FF5F2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186" y="2543076"/>
            <a:ext cx="253994" cy="2540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238819" y="2403376"/>
            <a:ext cx="533387" cy="533400"/>
          </a:xfrm>
          <a:prstGeom prst="ellipse">
            <a:avLst/>
          </a:prstGeom>
          <a:solidFill>
            <a:srgbClr val="FF4615"/>
          </a:solidFill>
          <a:ln w="6350">
            <a:solidFill>
              <a:srgbClr val="FF5F2E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515" y="2543076"/>
            <a:ext cx="253994" cy="2540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058148" y="2403376"/>
            <a:ext cx="533387" cy="533400"/>
          </a:xfrm>
          <a:prstGeom prst="ellipse">
            <a:avLst/>
          </a:prstGeom>
          <a:solidFill>
            <a:srgbClr val="FF4615"/>
          </a:solidFill>
          <a:ln w="6350">
            <a:solidFill>
              <a:srgbClr val="FF5F2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7845" y="2543076"/>
            <a:ext cx="253994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D9370A"/>
                </a:solidFill>
                <a:latin typeface="Space Mono" pitchFamily="34" charset="0"/>
                <a:ea typeface="Space Mono" pitchFamily="34" charset="-122"/>
                <a:cs typeface="Space Mono" pitchFamily="34" charset="0"/>
              </a:rPr>
              <a:t>DISCOUNT SIGNAL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8785"/>
            <a:ext cx="10972526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Discounts are driving demand in specific products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294261"/>
            <a:ext cx="4206075" cy="939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03030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839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609585" y="4413052"/>
            <a:ext cx="420607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customers used discounts and still spent above the average purchase amount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5021223"/>
            <a:ext cx="420607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Review discounting by product so volume does not quietly erode margin.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749" y="2722066"/>
            <a:ext cx="6309361" cy="31547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D9370A"/>
                </a:solidFill>
                <a:latin typeface="Space Mono" pitchFamily="34" charset="0"/>
                <a:ea typeface="Space Mono" pitchFamily="34" charset="-122"/>
                <a:cs typeface="Space Mono" pitchFamily="34" charset="0"/>
              </a:rPr>
              <a:t>SERVICE AND AUDIENCE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8785"/>
            <a:ext cx="10972526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Small service choices move purchase value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352576"/>
            <a:ext cx="5333867" cy="1810246"/>
          </a:xfrm>
          <a:prstGeom prst="rect">
            <a:avLst/>
          </a:prstGeom>
          <a:solidFill>
            <a:srgbClr val="FFB241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636738"/>
            <a:ext cx="487667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30303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$60.48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38179" y="3393976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Express shipping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8179" y="3753306"/>
            <a:ext cx="51052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vs. $58.46 with Standard shipping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8244" y="2352576"/>
            <a:ext cx="5333867" cy="1810246"/>
          </a:xfrm>
          <a:prstGeom prst="rect">
            <a:avLst/>
          </a:prstGeom>
          <a:solidFill>
            <a:srgbClr val="FF4615"/>
          </a:solidFill>
          <a:ln/>
        </p:spPr>
      </p:sp>
      <p:sp>
        <p:nvSpPr>
          <p:cNvPr id="9" name="Text 7"/>
          <p:cNvSpPr/>
          <p:nvPr/>
        </p:nvSpPr>
        <p:spPr>
          <a:xfrm>
            <a:off x="6476838" y="2636738"/>
            <a:ext cx="4876678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0"/>
              </a:rPr>
              <a:t>$62,143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6476838" y="3393976"/>
            <a:ext cx="51052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Young Adults revenue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76838" y="3753306"/>
            <a:ext cx="510527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Highest among age groups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585" y="4327287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Target high-revenue age groups with relevant offers and make premium fulfillment easy to choose.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D9370A"/>
                </a:solidFill>
                <a:latin typeface="Space Mono" pitchFamily="34" charset="0"/>
                <a:ea typeface="Space Mono" pitchFamily="34" charset="-122"/>
                <a:cs typeface="Space Mono" pitchFamily="34" charset="0"/>
              </a:rPr>
              <a:t>OPERATING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8785"/>
            <a:ext cx="10972526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The solution is a tighter behavior-to-action loop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2377976"/>
            <a:ext cx="2514537" cy="222091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606576"/>
            <a:ext cx="802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38179" y="2855516"/>
            <a:ext cx="2057349" cy="19050"/>
          </a:xfrm>
          <a:prstGeom prst="rect">
            <a:avLst/>
          </a:prstGeom>
          <a:solidFill>
            <a:srgbClr val="FF4615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3000276"/>
            <a:ext cx="20573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Segment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3374926"/>
            <a:ext cx="205734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Start with loyal, returning, and new customers.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8914" y="2377976"/>
            <a:ext cx="2514537" cy="222091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509" y="2606576"/>
            <a:ext cx="8376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509" y="2855516"/>
            <a:ext cx="2057349" cy="19050"/>
          </a:xfrm>
          <a:prstGeom prst="rect">
            <a:avLst/>
          </a:prstGeom>
          <a:solidFill>
            <a:srgbClr val="FF461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509" y="3000276"/>
            <a:ext cx="20573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Diagnose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509" y="3374926"/>
            <a:ext cx="205734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Connect product, discount, shipping, and purchase signals.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48244" y="2377976"/>
            <a:ext cx="2514537" cy="222091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6476838" y="2606576"/>
            <a:ext cx="8400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76838" y="2855516"/>
            <a:ext cx="2057349" cy="19050"/>
          </a:xfrm>
          <a:prstGeom prst="rect">
            <a:avLst/>
          </a:prstGeom>
          <a:solidFill>
            <a:srgbClr val="FF4615"/>
          </a:solidFill>
          <a:ln/>
        </p:spPr>
      </p:sp>
      <p:sp>
        <p:nvSpPr>
          <p:cNvPr id="17" name="Text 15"/>
          <p:cNvSpPr/>
          <p:nvPr/>
        </p:nvSpPr>
        <p:spPr>
          <a:xfrm>
            <a:off x="6476838" y="3000276"/>
            <a:ext cx="20573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Act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76838" y="3374926"/>
            <a:ext cx="205734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Promote subscriptions, loyalty rewards, and top-rated products.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67573" y="2377976"/>
            <a:ext cx="2514537" cy="2220913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9296167" y="2606576"/>
            <a:ext cx="84532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 SemiBold" pitchFamily="34" charset="0"/>
                <a:ea typeface="Inter SemiBold" pitchFamily="34" charset="-122"/>
                <a:cs typeface="Inter SemiBold" pitchFamily="34" charset="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96167" y="2855516"/>
            <a:ext cx="2057349" cy="19050"/>
          </a:xfrm>
          <a:prstGeom prst="rect">
            <a:avLst/>
          </a:prstGeom>
          <a:solidFill>
            <a:srgbClr val="FF4615"/>
          </a:solidFill>
          <a:ln/>
        </p:spPr>
      </p:sp>
      <p:sp>
        <p:nvSpPr>
          <p:cNvPr id="22" name="Text 20"/>
          <p:cNvSpPr/>
          <p:nvPr/>
        </p:nvSpPr>
        <p:spPr>
          <a:xfrm>
            <a:off x="9296167" y="3000276"/>
            <a:ext cx="20573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Measure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96167" y="3374926"/>
            <a:ext cx="2057349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Track conversion, repeat purchase, total purchase amount, and margin.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315"/>
            <a:ext cx="629904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D9370A"/>
                </a:solidFill>
                <a:latin typeface="Space Mono" pitchFamily="34" charset="0"/>
                <a:ea typeface="Space Mono" pitchFamily="34" charset="-122"/>
                <a:cs typeface="Space Mono" pitchFamily="34" charset="0"/>
              </a:rPr>
              <a:t>THE NEXT MOVE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18785"/>
            <a:ext cx="5689458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dirty="0">
                <a:solidFill>
                  <a:srgbClr val="03030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0"/>
              </a:rPr>
              <a:t>Four moves to turn insight into growth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27176"/>
            <a:ext cx="5689458" cy="212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Boost subscriptions: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give loyal customers a clear benefit to join.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Reward repeat buyers: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move returning customers toward loyalty.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Rebalance discounts: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protect margin on high-discount products.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030303"/>
                </a:solidFill>
                <a:latin typeface="Inter Bold" pitchFamily="34" charset="0"/>
                <a:ea typeface="Inter Bold" pitchFamily="34" charset="-122"/>
                <a:cs typeface="Inter Bold" pitchFamily="34" charset="0"/>
              </a:rPr>
              <a:t>Target precisely: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 focus campaigns on high-revenue age groups and express-shipping users.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6067485"/>
            <a:ext cx="629904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30303"/>
                </a:solidFill>
                <a:latin typeface="Inter" pitchFamily="34" charset="0"/>
                <a:ea typeface="Inter" pitchFamily="34" charset="-122"/>
                <a:cs typeface="Inter" pitchFamily="34" charset="0"/>
              </a:rPr>
              <a:t>Source: Customer Shopping Behavior Analysis.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2026-10-25T11:39:08Z</dcterms:created>
  <dcterms:modified xsi:type="dcterms:W3CDTF">2026-10-25T11:39:08Z</dcterms:modified>
</cp:coreProperties>
</file>